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47472"/>
            <a:ext cx="128016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Vector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RAG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8163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Knowledge Retrieval Systems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170432"/>
            <a:ext cx="242316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1704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242316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Vector Search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487168"/>
            <a:ext cx="242316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4871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Retrieval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145536"/>
            <a:ext cx="242316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1455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Retrieval-Augmented Generation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645152"/>
            <a:ext cx="8503920" cy="36576"/>
          </a:xfrm>
          <a:prstGeom prst="rect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Embeddings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29184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</a:rPr>
              <a:t>Word  →  Vector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96012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"King"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499616"/>
            <a:ext cx="25603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1298448"/>
            <a:ext cx="178308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129844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[0.82, 0.14, -0.37, ...]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96012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482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"Queen"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249424"/>
            <a:ext cx="25603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627632" y="2048256"/>
            <a:ext cx="178308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20482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[0.79, 0.91, -0.31, ...]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798064"/>
            <a:ext cx="96012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980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"Paris"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2999232"/>
            <a:ext cx="25603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27632" y="2798064"/>
            <a:ext cx="178308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27980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[0.05, 0.63, 0.88, ...]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547872"/>
            <a:ext cx="96012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4787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"AI"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749040"/>
            <a:ext cx="25603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627632" y="3547872"/>
            <a:ext cx="178308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27632" y="35478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[0.41, -0.72, 0.56, ...]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94760" y="7772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94760" y="7772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388620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120"/>
                </a:solidFill>
              </a:rPr>
              <a:t>What are Embeddings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86200" y="1161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Dense numerical vectors encoding meaning, not just words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7772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7772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120"/>
                </a:solidFill>
              </a:rPr>
              <a:t>Text to Vector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92240" y="1161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Models like text-embedding-3 convert text to fixed-size float arrays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94760" y="19202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94760" y="19202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38862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120"/>
                </a:solidFill>
              </a:rPr>
              <a:t>Numerical Representation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886200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dimension captures a latent semantic feature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19202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0" y="19202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120"/>
                </a:solidFill>
              </a:rPr>
              <a:t>Semantic Meaning Capture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92240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Similar sentences produce nearby vectors in space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94760" y="30632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794760" y="30632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4" name="Text 42"/>
          <p:cNvSpPr/>
          <p:nvPr/>
        </p:nvSpPr>
        <p:spPr>
          <a:xfrm>
            <a:off x="38862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120"/>
                </a:solidFill>
              </a:rPr>
              <a:t>Context Understanding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886200" y="3447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Embeddings capture polysemy — context changes the vector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30632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0" y="30632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120"/>
                </a:solidFill>
              </a:rPr>
              <a:t>Use Cases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92240" y="3447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Search, clustering, classification, anomaly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Semantic Similarity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Vector Space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34440" y="1965960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1490472" y="2103120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1746504" y="2240280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"dog" / "puppy" / "canine"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2816352" y="155448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072384" y="16916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"king" / "queen" / "royal"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0" y="315468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1952" y="329184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157984" y="342900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"Paris" / "France" / "city"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54480" y="2057400"/>
            <a:ext cx="1051560" cy="-530352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783080" y="15727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B6D4"/>
                </a:solidFill>
              </a:rPr>
              <a:t>similar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34840" y="77724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777240"/>
            <a:ext cx="21945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868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Semantic 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1161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Find results by meaning, not exact keywords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77724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777240"/>
            <a:ext cx="21945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868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Meaning-based Matching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1161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"Buy car" matches "purchase vehicle" — same concept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192024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34840" y="1920240"/>
            <a:ext cx="21945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Similarity 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2304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Detect paraphrase, duplicate content &amp; near-matches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192024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1920240"/>
            <a:ext cx="21945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Context-aware Retrieval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304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Query context shifts which documents rank highest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34840" y="306324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34840" y="3063240"/>
            <a:ext cx="21945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NL Understanding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26280" y="3447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Understands synonyms, abbreviations, and intent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306324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3063240"/>
            <a:ext cx="21945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Intelligent Search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3447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Powers AI assistants, recommendation &amp; discovery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Cosine Similarity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= (A · B) / (‖A‖ × ‖B‖)   →   Range: −1 (opposite)  to  +1 (identical)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157276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Exact same meaning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192024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920240"/>
            <a:ext cx="1572768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0.9+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3392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Very Similar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57860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Near-duplicate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192024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920240"/>
            <a:ext cx="157276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0.7–0.9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12464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257860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Same topic, different angle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31536" y="192024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920240"/>
            <a:ext cx="15727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0.5–0.7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31536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Loose Match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22976" y="257860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Tangentially related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50608" y="192024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920240"/>
            <a:ext cx="157276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19202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&lt; 0.5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50608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Unrelated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42048" y="257860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Different semantic space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57600"/>
            <a:ext cx="54864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3712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Vector Comparison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40050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Measure angle between two embedding vectors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50592" y="36576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50592" y="3657600"/>
            <a:ext cx="54864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2615184" y="3712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Distance Measurement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15184" y="40050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Euclidean vs cosine — cosine ignores magnitude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26864" y="36576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26864" y="3657600"/>
            <a:ext cx="54864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4791456" y="3712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Matching Results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91456" y="40050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Top-k nearest vectors retrieved from DB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03136" y="365760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03136" y="3657600"/>
            <a:ext cx="54864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5" name="Text 43"/>
          <p:cNvSpPr/>
          <p:nvPr/>
        </p:nvSpPr>
        <p:spPr>
          <a:xfrm>
            <a:off x="6967728" y="3712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Retrieval Optimization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67728" y="40050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HNSW index finds approximate neighbours fast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Chunking Strategies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30352" cy="1234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530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</a:rPr>
              <a:t>What is Chunking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17957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Splitting large documents into smaller pieces before embedding. Each chunk becomes one vector in the DB.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5303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777240"/>
            <a:ext cx="530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8686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</a:rPr>
              <a:t>Fixed-size Chunking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17957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Split every N tokens (e.g. 512). Simple &amp; fast but may cut sentences mid-way.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67128"/>
            <a:ext cx="53035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67128"/>
            <a:ext cx="530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2585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</a:rPr>
              <a:t>Recursive Chunking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56946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Try paragraph → sentence → word boundaries. Respects document structure automatically.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67128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67128"/>
            <a:ext cx="530352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67128"/>
            <a:ext cx="530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22585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</a:rPr>
              <a:t>Overlapping Chunks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56946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Each chunk shares N tokens with the next. Preserves context across boundaries (stride = 50–100 tokens).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5303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57016"/>
            <a:ext cx="530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36484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</a:rPr>
              <a:t>Context Preservation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959352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Ensure each chunk carries enough context to be answered in isolation during retrieval.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55701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57016"/>
            <a:ext cx="5303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557016"/>
            <a:ext cx="530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49240" y="36484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120"/>
                </a:solidFill>
              </a:rPr>
              <a:t>Efficient Retrieval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959352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Smaller chunks = more precise hits. Larger chunks = more context. Balance for your task.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Metadata &amp; Retrieval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0876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83080" y="1152144"/>
            <a:ext cx="22860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777240"/>
            <a:ext cx="150876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7772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152144"/>
            <a:ext cx="22860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777240"/>
            <a:ext cx="150876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7772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Chunks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1152144"/>
            <a:ext cx="22860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777240"/>
            <a:ext cx="150876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7772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1152144"/>
            <a:ext cx="22860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777240"/>
            <a:ext cx="150876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7772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783080"/>
            <a:ext cx="416052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1828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</a:rPr>
              <a:t>Metadata Fields Example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2677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63040" y="22677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"product_manual.pdf"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6060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63040" y="26060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944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463040" y="29443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"Installation"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2826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63040" y="3282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6210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63040" y="36210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"2024-01-15"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9593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463040" y="39593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"hardware"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783080"/>
            <a:ext cx="54864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8379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Document Tagging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2084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Attach source, date, author, section to each chunk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5603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560320"/>
            <a:ext cx="54864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6151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Filtering &amp; Search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2862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Pre-filter by metadata before vector search: where: {"category": "hardware"}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3375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337560"/>
            <a:ext cx="54864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3924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Retrieval Pipelines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Embed query → filter → cosine search → rerank → generate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41148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4114800"/>
            <a:ext cx="54864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41696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Enterprise Search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4416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Combine metadata filters with semantic search for precision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Vector Database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046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 / Application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804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Embed query → send search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09344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0934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&amp; Auth Gateway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60934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Rate limiting, auth tokens, REST / gRPC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8229600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1401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HNSW / IVF Index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41401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Approximate Nearest Neighbour (ANN) search — sub-millisecond at scale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82296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1868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Vector Store + Metadata 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21868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Float32 vectors alongside JSON metadata, sharded across nodes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233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Persistent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402336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Disk-backed snapshots, WAL, replication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18745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ANN Indexing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32888" y="4681728"/>
            <a:ext cx="18745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Scalar Filtering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08576" y="4681728"/>
            <a:ext cx="18745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Horizontal Scaling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84264" y="4681728"/>
            <a:ext cx="18745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ACID Guarantees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Vector Databases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321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Chroma DB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106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Local / Embedded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Best for: Prototyping &amp; dev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282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Zero config, Python-native, free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020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Not production-scale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313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Cloud vs Local: Local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77240"/>
            <a:ext cx="416052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8321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FAISS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18888" y="1106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Library (Meta)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435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Best for: Research &amp; high-perf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17282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Blazing fast, GPU support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2020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No metadata, no persistence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8888" y="2313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Cloud vs Local: Local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41605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35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Pinecone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4048" y="32095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Cloud (Managed)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3538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Best for: Production SaaS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8313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Fully managed, auto-scale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Paid, vendor lock-in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4416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Cloud vs Local: Cloud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8803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80360"/>
            <a:ext cx="41605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935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Qdrant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18888" y="32095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Self-hosted / Cloud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3538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Best for: Enterprise on-prem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18888" y="38313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✓  Rich filters, open-source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18888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More ops than Pinecone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18888" y="4416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Cloud vs Local: Cloud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Retrieval-Augmented Generation (RAG)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07899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229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12070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35024" y="1261872"/>
            <a:ext cx="16459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1499616" y="822960"/>
            <a:ext cx="1078992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8229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~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9616" y="12070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Embed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78608" y="1261872"/>
            <a:ext cx="16459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822960"/>
            <a:ext cx="107899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8229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12070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Search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22192" y="1261872"/>
            <a:ext cx="16459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986784" y="822960"/>
            <a:ext cx="107899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8229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86784" y="12070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Retrieve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Chunks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65776" y="1261872"/>
            <a:ext cx="16459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5230368" y="822960"/>
            <a:ext cx="1078992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8229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12070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261872"/>
            <a:ext cx="16459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3952" y="822960"/>
            <a:ext cx="107899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8229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73952" y="12070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52944" y="1261872"/>
            <a:ext cx="16459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7717536" y="822960"/>
            <a:ext cx="107899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7536" y="8229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17536" y="12070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Answer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1993392"/>
            <a:ext cx="4160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1993392"/>
            <a:ext cx="4160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RAG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" y="239572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Combine a retriever (vector DB) with a generator (LLM). LLM only sees top-k relevant chunks — not the full corpus.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1993392"/>
            <a:ext cx="4160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1993392"/>
            <a:ext cx="4160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818888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RAG over Fine-tuning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18888" y="239572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Update knowledge without retraining. No hallucination on your private docs. Cheaper, faster, auditable.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410712"/>
            <a:ext cx="4160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410712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3502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Injection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4048" y="38130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Retrieved chunks are prepended to the prompt: "Answer using this context: {chunks}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Question: {query}"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3410712"/>
            <a:ext cx="4160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410712"/>
            <a:ext cx="4160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4818888" y="3502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AI-powered Q&amp;A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18888" y="38130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PDF Q&amp;A, legal doc search, internal wikis, customer support — all built on RAG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Practical Labs &amp; Mini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95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8F9"/>
                </a:solidFill>
              </a:rPr>
              <a:t>🔬  Practical Labs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1673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PDF Ingestion — parse &amp; chunk documents with LangChain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836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Embedding Generation — call text-embedding-3-small API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4505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Semantic Search — query Chroma DB and rank results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595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</a:rPr>
              <a:t>🚀  Mini Project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PDF Q&amp;A Chatbot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92040" y="17190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Upload any PDF → auto-chunk → embed → store in Chroma → ask natural-language questions → LLM answers using retrieved context.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246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8F9"/>
                </a:solidFill>
              </a:rPr>
              <a:t>Skills Gained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03320"/>
            <a:ext cx="2697480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3822192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RAG Pipeline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370332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703320"/>
            <a:ext cx="26974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28416" y="3822192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Vector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70332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3703320"/>
            <a:ext cx="269748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3822192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Document Search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Embeddings, Vector Databases &amp; RAG - Day 3</dc:title>
  <dc:subject>PptxGenJS Presentation</dc:subject>
  <dc:creator>PptxGenJS</dc:creator>
  <cp:lastModifiedBy>PptxGenJS</cp:lastModifiedBy>
  <cp:revision>1</cp:revision>
  <dcterms:created xsi:type="dcterms:W3CDTF">2026-05-27T10:23:19Z</dcterms:created>
  <dcterms:modified xsi:type="dcterms:W3CDTF">2026-05-27T10:23:19Z</dcterms:modified>
</cp:coreProperties>
</file>