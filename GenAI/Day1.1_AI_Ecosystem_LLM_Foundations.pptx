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Ecosystem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LLM Foundations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Agentic AI Fundamentals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C316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Evolution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32004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C316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Foundations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2004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C316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Systems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320040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C316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Engineering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Fundamentals Series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Artificial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28016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2801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09928" y="914400"/>
            <a:ext cx="1280160" cy="2560320"/>
          </a:xfrm>
          <a:prstGeom prst="rect">
            <a:avLst/>
          </a:prstGeom>
          <a:solidFill>
            <a:srgbClr val="1A4D8C"/>
          </a:solidFill>
          <a:ln w="12700">
            <a:solidFill>
              <a:srgbClr val="1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09928" y="914400"/>
            <a:ext cx="12801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67128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D8C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45536" y="914400"/>
            <a:ext cx="1280160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45536" y="914400"/>
            <a:ext cx="12801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02736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81144" y="914400"/>
            <a:ext cx="1280160" cy="2560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81144" y="914400"/>
            <a:ext cx="12801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(GenAI)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38344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16752" y="914400"/>
            <a:ext cx="1280160" cy="2560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16752" y="914400"/>
            <a:ext cx="12801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73952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914400"/>
            <a:ext cx="1280160" cy="2560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914400"/>
            <a:ext cx="12801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layer builds on the previous — from rule-based systems to autonomous intelligent agents.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Generative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347472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25603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creates new content — text, images, audio, video, code — by learning patterns from data.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9144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14400"/>
            <a:ext cx="2743200" cy="347472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4408" y="1298448"/>
            <a:ext cx="25603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like GPT, Claude, Gemini produce human-quality text for summarization, writing, Q&amp;A.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17336" y="9144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17336" y="914400"/>
            <a:ext cx="2743200" cy="347472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8776" y="1298448"/>
            <a:ext cx="25603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DALL·E, Midjourney, Stable Diffusion create images from text prompts.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80360"/>
            <a:ext cx="2743200" cy="347472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880360"/>
            <a:ext cx="27432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Video Generation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264408"/>
            <a:ext cx="25603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synthesizes speech, music, and video — enabling real-time dubbing, voiceovers, avatars.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880360"/>
            <a:ext cx="2743200" cy="347472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2880360"/>
            <a:ext cx="27432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4408" y="3264408"/>
            <a:ext cx="25603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support, content creation, code assistance, data analysis, and personalization.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17336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2880360"/>
            <a:ext cx="2743200" cy="347472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880360"/>
            <a:ext cx="27432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08776" y="3264408"/>
            <a:ext cx="25603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automates repetitive cognitive tasks, freeing humans for strategic decision-making.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Agentic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6459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6052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can plan, decide, and execute multi-step tasks autonomously without constant human input.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109728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 Making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0328" y="1389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evaluate context, reason about goals, and select actions — dynamically adapting to outcomes.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416052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04288"/>
            <a:ext cx="109728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Overview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68833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entities with tools, memory, and APIs to interact with the real world and accomplish tasks.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304288"/>
            <a:ext cx="416052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304288"/>
            <a:ext cx="109728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268833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specialized AI agents collaborate — one plans, one searches, one executes — to solve complex problems.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416052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02736"/>
            <a:ext cx="109728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Workflows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9867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decompose high-level objectives into sub-tasks, track progress, and iterate toward completion.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02736"/>
            <a:ext cx="4160520" cy="11430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02736"/>
            <a:ext cx="109728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Agents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39867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RPA, customer ops, coding assistants, research, and business process automation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trained on massive text to predict and generate language at human level.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3931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5877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via self-supervised learning — predict next tokens — then fine-tuned for instructions.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66160"/>
            <a:ext cx="3931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91363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or decoder-only design using attention mechanisms to process sequences.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Tokenization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126187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broken into sub-word tokens; models think in tokens, not characters or words.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24028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40280"/>
            <a:ext cx="393192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25877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tokens a model can process at once; modern models handle 128K–1M tokens.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56616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566160"/>
            <a:ext cx="393192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391363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model to weigh relationships between all tokens — the key to language understanding.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 Databases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20116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237744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33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Basics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numerical vectors that capture semantic meaning of text, images, or data in high-dimensional space.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237744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033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meanings → similar vectors. Enables search and retrieval beyond keyword matching.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17336" y="96012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17336" y="237744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033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08776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 Neighbour (ANN) algorithms find closest vectors in milliseconds at billion scale.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429768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53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Matching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similarity, dot product, or Euclidean distance rank how semantically close documents are.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288036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429768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953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Overview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Pinecone, Weaviate, Qdrant, Chroma — purpose-built DBs for storing and querying embeddings at scale.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17336" y="288036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429768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2953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Knowledge Retrieval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08776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embeddings + vector search powers RAG, semantic search, recommendations, and more.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46304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55648" y="1261872"/>
            <a:ext cx="22860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914400"/>
            <a:ext cx="1463040" cy="822960"/>
          </a:xfrm>
          <a:prstGeom prst="rect">
            <a:avLst/>
          </a:prstGeom>
          <a:solidFill>
            <a:srgbClr val="0D4F8C"/>
          </a:solidFill>
          <a:ln w="12700">
            <a:solidFill>
              <a:srgbClr val="0D4F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9144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3008" y="1261872"/>
            <a:ext cx="22860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914400"/>
            <a:ext cx="146304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9144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30368" y="1261872"/>
            <a:ext cx="22860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914400"/>
            <a:ext cx="14630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9144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67728" y="1261872"/>
            <a:ext cx="22860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914400"/>
            <a:ext cx="1463040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9144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retrieval of external documents with LLM generation for grounded, accurate responses.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0116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is Important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hallucination, keeps responses current, and grounds answers in trusted knowledge sources.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3008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→ Store → Retrieve → Augment → Generate. A pipeline that connects LLMs to live data.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97180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3008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Knowledge Retrieval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relevant documents from vector databases, file stores, or APIs at query time.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93192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" y="3968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docs give the LLM context beyond its training data for precise, relevant answers.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93192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64608" y="3968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Systems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internal Q&amp;A, document search, compliance tools, and knowledge-base chatbots.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Basics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6459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60520" cy="11704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36245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clear, specific instructions with context, constraints, format requirements, and expected output.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1704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1148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60120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Instruction-based Prompting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36245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direct commands: "Summarize in 3 bullet points", "Act as a senior engineer", "Return JSON only".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4160520" cy="11704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58568"/>
            <a:ext cx="41148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58568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2350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vs Prompting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66090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= runtime guidance (fast, flexible). Fine-tuning = baking behavior into weights (costly, specialized).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258568"/>
            <a:ext cx="4160520" cy="11704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58568"/>
            <a:ext cx="41148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58568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350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66090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top-p, max_tokens, stop sequences — control randomness, length, and format of outputs.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160520" cy="11704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57016"/>
            <a:ext cx="41148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57016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648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395935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User + Assistant message format; few-shot examples; chain-of-thought reasoning triggers.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557016"/>
            <a:ext cx="4160520" cy="11704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57016"/>
            <a:ext cx="411480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557016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648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Prompt Techniques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395935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assignment, step-by-step decomposition, output format specs, and self-consistency checks.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API gateways, model servers (vLLM, Triton), load balancers, and caching layers for production LLM systems.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APIs &amp; Integrations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2527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Groq, HuggingFace APIs. SDKs, REST endpoints, webhooks, and streaming responses.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21992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21992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21992"/>
            <a:ext cx="3977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Systems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versioning, A/B testing, rollback strategies, prompt registries, and CI/CD pipelines for AI.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221992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21992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221992"/>
            <a:ext cx="3977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60604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token usage, error rates, hallucination detection, and user feedback loops via LangSmith, Helicone.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575304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75304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75304"/>
            <a:ext cx="3977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Concepts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959352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scaling, batching, quantization (INT4/INT8), LoRA adapters, and edge deployment strategies.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575304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75304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75304"/>
            <a:ext cx="3977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Roadmap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959352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RAG → Agents → Fine-tuning → Custom models. Build expertise progressively with real projects.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 &amp; Mini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75488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75488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200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5910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API keys, install SDK, authenticate and run first API call.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3200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225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Chatbot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5420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chat loop using the Groq/OpenAI SDK in Python.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3200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0540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273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temperature 0.0 → 1.5 to observe creativity vs determinism.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767328"/>
            <a:ext cx="3200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7856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005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output length; observe truncation and how models handle token limits.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0" y="1051560"/>
            <a:ext cx="35661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1051560"/>
            <a:ext cx="3566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051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40680" y="1645920"/>
            <a:ext cx="3108960" cy="685800"/>
          </a:xfrm>
          <a:prstGeom prst="rect">
            <a:avLst/>
          </a:prstGeom>
          <a:solidFill>
            <a:srgbClr val="0D306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1645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AI Chatbot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94960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 (no GUI needed)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8163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Groq API for fast inference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94960" y="314553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conversation history / context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4747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user inputs and edge cases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38039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temperature &amp; max_tokens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41330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exit commands &amp; error handling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AI Ecosystem &amp; LLM Foundations</dc:title>
  <dc:subject>PptxGenJS Presentation</dc:subject>
  <dc:creator>PptxGenJS</dc:creator>
  <cp:lastModifiedBy>PptxGenJS</cp:lastModifiedBy>
  <cp:revision>1</cp:revision>
  <dcterms:created xsi:type="dcterms:W3CDTF">2026-05-27T09:52:58Z</dcterms:created>
  <dcterms:modified xsi:type="dcterms:W3CDTF">2026-05-27T09:52:58Z</dcterms:modified>
</cp:coreProperties>
</file>