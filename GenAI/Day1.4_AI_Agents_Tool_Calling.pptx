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47472"/>
            <a:ext cx="128016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2798064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Autonomous AI Systems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92240" y="1170432"/>
            <a:ext cx="242316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1704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242316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Calling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487168"/>
            <a:ext cx="242316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4871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Function Calling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145536"/>
            <a:ext cx="242316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14553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Intelligent Workflow Automation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645152"/>
            <a:ext cx="8503920" cy="36576"/>
          </a:xfrm>
          <a:prstGeom prst="rect">
            <a:avLst/>
          </a:prstGeom>
          <a:solidFill>
            <a:srgbClr val="EA580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AI Agents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20040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412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What is an AI Agent?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An AI agent is a system that perceives its environment, reasons about a goal, selects actions (tools), and executes them autonomously — iterating until the task is complete.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99032" y="1947672"/>
            <a:ext cx="768096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9032" y="1947672"/>
            <a:ext cx="76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Perceive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55643" y="2642690"/>
            <a:ext cx="768096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5643" y="2642690"/>
            <a:ext cx="76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0250" y="3767254"/>
            <a:ext cx="768096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0250" y="3767254"/>
            <a:ext cx="76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7814" y="3767254"/>
            <a:ext cx="768096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814" y="3767254"/>
            <a:ext cx="76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2421" y="2642690"/>
            <a:ext cx="768096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421" y="2642690"/>
            <a:ext cx="76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Observe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Loop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777240"/>
            <a:ext cx="5166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03320" y="777240"/>
            <a:ext cx="54864" cy="7132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3877056" y="8321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Autonomous Decision Making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77056" y="110642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Chooses actions without human input each step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03320" y="1600200"/>
            <a:ext cx="5166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1600200"/>
            <a:ext cx="54864" cy="7132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3877056" y="165506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Goal-driven Systems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77056" y="19293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Given a goal, agent decomposes &amp; executes subtasks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03320" y="2423160"/>
            <a:ext cx="5166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2423160"/>
            <a:ext cx="54864" cy="7132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8" name="Text 26"/>
          <p:cNvSpPr/>
          <p:nvPr/>
        </p:nvSpPr>
        <p:spPr>
          <a:xfrm>
            <a:off x="3877056" y="247802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Intelligent Task Execution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77056" y="275234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Uses tools, APIs, memory to complete complex work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03320" y="3246120"/>
            <a:ext cx="5166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03320" y="3246120"/>
            <a:ext cx="54864" cy="7132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3877056" y="330098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Agent Architectures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77056" y="357530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ReAct, Plan-and-Execute, AutoGPT, LangGraph patterns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03320" y="4069080"/>
            <a:ext cx="5166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03320" y="4069080"/>
            <a:ext cx="54864" cy="7132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6" name="Text 34"/>
          <p:cNvSpPr/>
          <p:nvPr/>
        </p:nvSpPr>
        <p:spPr>
          <a:xfrm>
            <a:off x="3877056" y="412394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Enterprise AI Agents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77056" y="43982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Customer support, coding, research, data analysis bots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Agent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703320" y="1920240"/>
            <a:ext cx="1737360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03320" y="19202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148840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Processing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94460" y="1261872"/>
            <a:ext cx="299182" cy="113646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91840" y="804672"/>
            <a:ext cx="21488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046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Reasoning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Engine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6260" y="1261872"/>
            <a:ext cx="53777" cy="31549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263640" y="804672"/>
            <a:ext cx="214884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8046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System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38060" y="1261872"/>
            <a:ext cx="-293329" cy="127998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0040" y="3246120"/>
            <a:ext cx="214884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Components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94460" y="3703320"/>
            <a:ext cx="298319" cy="-115894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291840" y="3246120"/>
            <a:ext cx="21488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66260" y="3703320"/>
            <a:ext cx="52614" cy="-315686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263640" y="3246120"/>
            <a:ext cx="214884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38060" y="3703320"/>
            <a:ext cx="-292257" cy="-130429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Planning &amp; Reasoning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Receive Goal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"Research competitors"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94560" y="1225296"/>
            <a:ext cx="25603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2450592" y="777240"/>
            <a:ext cx="19202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Decompose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50592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Split into subtasks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0832" y="1225296"/>
            <a:ext cx="25603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4626864" y="777240"/>
            <a:ext cx="19202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Execute Steps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26864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Call tools in order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47104" y="1225296"/>
            <a:ext cx="25603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03136" y="777240"/>
            <a:ext cx="19202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03136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Check goal achieved?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193852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938528"/>
            <a:ext cx="274320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0299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Task Planning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" y="234086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Break complex goals into ordered, executable subtasks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193852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938528"/>
            <a:ext cx="274320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3310128" y="20299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Step-by-step Reasoning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234086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Chain-of-thought lets the model reason before acting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193852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938528"/>
            <a:ext cx="274320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9" name="Text 27"/>
          <p:cNvSpPr/>
          <p:nvPr/>
        </p:nvSpPr>
        <p:spPr>
          <a:xfrm>
            <a:off x="6236208" y="20299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Decision Making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36208" y="234086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Agent picks best tool &amp; input for each step dynamically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335584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355848"/>
            <a:ext cx="274320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34472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Dynamic Workflow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" y="375818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Plans adapt when a tool fails or returns unexpected 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0" y="335584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3355848"/>
            <a:ext cx="274320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3310128" y="34472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Problem Solving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10128" y="375818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Multi-step logic: search → read → summarize → respond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335584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3355848"/>
            <a:ext cx="274320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1" name="Text 39"/>
          <p:cNvSpPr/>
          <p:nvPr/>
        </p:nvSpPr>
        <p:spPr>
          <a:xfrm>
            <a:off x="6236208" y="34472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Autonomous Workflows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36208" y="375818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Entire pipelines run without human prompting mid-task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Tool Calling Fundamentals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508760" cy="8412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1161288"/>
            <a:ext cx="21031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1993392" y="777240"/>
            <a:ext cx="150876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777240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Formats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JSON Call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152" y="1161288"/>
            <a:ext cx="21031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3712464" y="777240"/>
            <a:ext cx="150876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777240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Tool/API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21224" y="1161288"/>
            <a:ext cx="21031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31536" y="777240"/>
            <a:ext cx="1508760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777240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Returns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0296" y="1161288"/>
            <a:ext cx="210312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7150608" y="777240"/>
            <a:ext cx="150876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777240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Continues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187452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874520"/>
            <a:ext cx="54864" cy="1234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What is Tool Calling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LLM outputs a structured JSON request to call an external function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187452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874520"/>
            <a:ext cx="54864" cy="1234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External Tool Integration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227685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Weather, calculator, database, search, email, calendar APIs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187452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874520"/>
            <a:ext cx="54864" cy="1234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API-based Actions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27685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Agent invokes REST/GraphQL endpoints and reads responses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291840"/>
            <a:ext cx="54864" cy="1234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Real-time Data Access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69417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Overcome knowledge cutoff — tools provide live data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0" y="32918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291840"/>
            <a:ext cx="54864" cy="1234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Tool Execution Flow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83280" y="369417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LLM → tool_use block → app executes → result → LLM continues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32918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291840"/>
            <a:ext cx="54864" cy="1234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1E"/>
                </a:solidFill>
              </a:rPr>
              <a:t>AI Automation Systems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09360" y="369417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Chain multiple tools to automate multi-step business workflows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Function Calling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38912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0624" y="822960"/>
            <a:ext cx="4096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Function Definition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" y="1216152"/>
            <a:ext cx="409651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"get_weather",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"Get weather for a city",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"object",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"city":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"string",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"description": "City name"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"unit":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"string",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"enum": ["celsius","fahrenheit"]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"required": ["city"]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0624" y="3639312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LLM Response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3913632"/>
            <a:ext cx="4096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"get_weather", "arguments": { "city": "Mumbai", "unit": "celsius" } 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92040" y="77724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777240"/>
            <a:ext cx="201168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868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F1E"/>
                </a:solidFill>
              </a:rPr>
              <a:t>Function Calling Basics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19786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Pass a schema; LLM decides when &amp; how to invoke 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40880" y="77724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40880" y="777240"/>
            <a:ext cx="201168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868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F1E"/>
                </a:solidFill>
              </a:rPr>
              <a:t>Structured Inputs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119786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JSON schema enforces parameter names and types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216712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167128"/>
            <a:ext cx="201168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2585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F1E"/>
                </a:solidFill>
              </a:rPr>
              <a:t>JSON-based Responses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5877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Model returns parseable JSON — no regex needed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40880" y="216712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0" y="2167128"/>
            <a:ext cx="201168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22585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F1E"/>
                </a:solidFill>
              </a:rPr>
              <a:t>API Invocation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25877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App calls the real API and feeds result back to LLM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3557016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557016"/>
            <a:ext cx="201168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6484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F1E"/>
                </a:solidFill>
              </a:rPr>
              <a:t>Reliable AI Actions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977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Schema validation prevents malformed tool calls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40880" y="3557016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40880" y="3557016"/>
            <a:ext cx="201168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36484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F1E"/>
                </a:solidFill>
              </a:rPr>
              <a:t>Controlled Execution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3977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tool_choice: 'required' forces a call when needed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Memory in AI Agents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777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Short-term Memory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" y="1389888"/>
            <a:ext cx="146304" cy="14630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3533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0F1E"/>
                </a:solidFill>
              </a:rPr>
              <a:t>Lives inside the context window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" y="1810512"/>
            <a:ext cx="146304" cy="14630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17739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0F1E"/>
                </a:solidFill>
              </a:rPr>
              <a:t>Includes full conversation history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231136"/>
            <a:ext cx="146304" cy="14630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1945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0F1E"/>
                </a:solidFill>
              </a:rPr>
              <a:t>Lost when session ends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" y="2651760"/>
            <a:ext cx="146304" cy="14630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6151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0F1E"/>
                </a:solidFill>
              </a:rPr>
              <a:t>Typical limit: 4K–128K tokens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072384"/>
            <a:ext cx="146304" cy="14630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30358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0F1E"/>
                </a:solidFill>
              </a:rPr>
              <a:t>Used for: current task context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2336" y="3547872"/>
            <a:ext cx="3950208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602736"/>
            <a:ext cx="376732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[{"role":"user","content":"..."},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{"role":"assistant","content":"..."}]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777240"/>
            <a:ext cx="4206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777240"/>
            <a:ext cx="42062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777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Long-term Memory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19472" y="138988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175504" y="13533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0F1E"/>
                </a:solidFill>
              </a:rPr>
              <a:t>Persisted to external storage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19472" y="1810512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175504" y="17739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0F1E"/>
                </a:solidFill>
              </a:rPr>
              <a:t>Vector DB, SQL, Redis, file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19472" y="2231136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175504" y="21945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0F1E"/>
                </a:solidFill>
              </a:rPr>
              <a:t>Survives across sessions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19472" y="265176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5175504" y="26151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0F1E"/>
                </a:solidFill>
              </a:rPr>
              <a:t>Enables user personalization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919472" y="307238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175504" y="30358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0F1E"/>
                </a:solidFill>
              </a:rPr>
              <a:t>Used for: preferences, history, facts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82896" y="3547872"/>
            <a:ext cx="3950208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3602736"/>
            <a:ext cx="376732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memory.save("user_name", "Arun")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memory.recall("What did user ask last time?")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ReAct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00584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THOUGHT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417320" y="777240"/>
            <a:ext cx="7452360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777240"/>
            <a:ext cx="7178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need to find today's weather in Hyderabad. I'll use the weather tool.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4944" y="1399032"/>
            <a:ext cx="5486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581912"/>
            <a:ext cx="1005840" cy="6217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8191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17320" y="1581912"/>
            <a:ext cx="7452360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581912"/>
            <a:ext cx="7178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get_weather(city="Hyderabad", unit="celsius")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" y="2203704"/>
            <a:ext cx="5486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386584"/>
            <a:ext cx="100584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8658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OBSERVATION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2386584"/>
            <a:ext cx="7452360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386584"/>
            <a:ext cx="7178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{"temp": 34, "condition": "Partly cloudy", "humidity": 62}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4944" y="3008376"/>
            <a:ext cx="5486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191256"/>
            <a:ext cx="100584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19125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THOUGHT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417320" y="3191256"/>
            <a:ext cx="7452360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191256"/>
            <a:ext cx="7178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have the weather data. I can now compose a helpful answer.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4944" y="3813048"/>
            <a:ext cx="5486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995928"/>
            <a:ext cx="100584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9592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ANSWER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417320" y="3995928"/>
            <a:ext cx="7452360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3995928"/>
            <a:ext cx="7178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 currently 34°C and partly cloudy in Hyderabad with 62% humidity.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1920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Reason + Act — Framework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50592" y="4663440"/>
            <a:ext cx="192024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Iterative — Reasoning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26864" y="4663440"/>
            <a:ext cx="1920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Observation — Handling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03136" y="4663440"/>
            <a:ext cx="19202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Autonomous — Agent Loops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Practical Labs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3210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83210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Calculator Tool Integration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380744"/>
            <a:ext cx="2514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Define a calc tool schema, pass arithmetic expressions, validate JSON output from the LLM.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777240"/>
            <a:ext cx="274320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83210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50208" y="83210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 Tool 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380744"/>
            <a:ext cx="2514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Wire a web-search API as a tool; agent queries it and synthesizes a cited answer.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777240"/>
            <a:ext cx="274320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83210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76288" y="83210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Multi-tool Agent Creation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1380744"/>
            <a:ext cx="2514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Build an agent with 3+ tools and watch it select the right one for each subtask.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27432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88950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288950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Workflow Testing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438144"/>
            <a:ext cx="2514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Log Thought → Action → Observation traces and debug unexpected tool calls.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274320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88950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50208" y="288950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 Invocation Practice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3438144"/>
            <a:ext cx="2514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Practice writing tool schemas for email, calendar, weather, and database tools.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34640"/>
            <a:ext cx="2743200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288950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76288" y="288950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Automation Demos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3438144"/>
            <a:ext cx="2514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Run an end-to-end demo: user query → multi-tool agent → structured final answer.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Mini Project — Personal AI Assistant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859536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7782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🤖  Personal AI Assistant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 multi-tool autonomous assistant that answers questions, retrieves live data, and automates tasks — all from a single natural-language interface.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176272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Features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578608"/>
            <a:ext cx="416052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578608"/>
            <a:ext cx="54864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578608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Multi-tool Support — weather, search, calculator, email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6052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17520"/>
            <a:ext cx="54864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3017520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Intelligent Responses — ReAct reasoning for complex queries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456432"/>
            <a:ext cx="416052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456432"/>
            <a:ext cx="54864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3456432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Real-time Information — live data via search &amp; API tools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895344"/>
            <a:ext cx="416052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95344"/>
            <a:ext cx="54864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895344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Task Automation — schedule, summarize, research autonomously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334256"/>
            <a:ext cx="416052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334256"/>
            <a:ext cx="54864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4334256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Context-aware Conversations — short + long-term memory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217627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Skills Gained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606040"/>
            <a:ext cx="1298448" cy="2359152"/>
          </a:xfrm>
          <a:prstGeom prst="rect">
            <a:avLst/>
          </a:prstGeom>
          <a:solidFill>
            <a:srgbClr val="33415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606040"/>
            <a:ext cx="1298448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2743200"/>
            <a:ext cx="1298448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Development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08192" y="2606040"/>
            <a:ext cx="1298448" cy="2359152"/>
          </a:xfrm>
          <a:prstGeom prst="rect">
            <a:avLst/>
          </a:prstGeom>
          <a:solidFill>
            <a:srgbClr val="33415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08192" y="2606040"/>
            <a:ext cx="129844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108192" y="2743200"/>
            <a:ext cx="1298448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Calling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Integration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52944" y="2606040"/>
            <a:ext cx="1298448" cy="2359152"/>
          </a:xfrm>
          <a:prstGeom prst="rect">
            <a:avLst/>
          </a:prstGeom>
          <a:solidFill>
            <a:srgbClr val="3341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52944" y="2606040"/>
            <a:ext cx="1298448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743200"/>
            <a:ext cx="1298448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Autonomous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Workflow Design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&amp; Tool Calling - Day 4</dc:title>
  <dc:subject>PptxGenJS Presentation</dc:subject>
  <dc:creator>PptxGenJS</dc:creator>
  <cp:lastModifiedBy>PptxGenJS</cp:lastModifiedBy>
  <cp:revision>1</cp:revision>
  <dcterms:created xsi:type="dcterms:W3CDTF">2026-05-27T10:26:37Z</dcterms:created>
  <dcterms:modified xsi:type="dcterms:W3CDTF">2026-05-27T10:26:37Z</dcterms:modified>
</cp:coreProperties>
</file>