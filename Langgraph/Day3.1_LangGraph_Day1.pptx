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</a:rPr>
              <a:t>DAY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LangGraph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Foundations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8BDF8"/>
                </a:solidFill>
              </a:rPr>
              <a:t>Building Stateful AI Workflows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0" y="109728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0972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LangGraph Basics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830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Stateful Systems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46888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4688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Graph Workflows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315468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1546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Multi-agent Orchestration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4754880"/>
            <a:ext cx="850392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LangGraph | Day 1 — Foundations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Introduction to LangGraph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2/10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41732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188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What is LangGraph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92040" y="10972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097280"/>
            <a:ext cx="64008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56632" y="141732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41848" y="1188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Why LangGraph Exists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359152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59152"/>
            <a:ext cx="64008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679192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4505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AI Workflow Orchestration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2359152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359152"/>
            <a:ext cx="64008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56632" y="2679192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41848" y="24505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Stateful AI Applications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621024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21024"/>
            <a:ext cx="64008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941064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712464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Advanced Agent Systems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92040" y="3621024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621024"/>
            <a:ext cx="64008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56632" y="3941064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6632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41848" y="3712464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Enterprise AI Automation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Chains vs Graphs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3/10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9319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⛓ Traditional Chains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00200"/>
            <a:ext cx="64008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0020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Traditional Chains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240280"/>
            <a:ext cx="64008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4028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Linear Workflow Execution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80360"/>
            <a:ext cx="64008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8803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Fixed Execution Paths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1051560"/>
            <a:ext cx="393192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🔗 Graph Workflows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160020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1600200"/>
            <a:ext cx="64008" cy="5303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160020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Graph-based Workflows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224028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2240280"/>
            <a:ext cx="64008" cy="5303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24028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Dynamic Routing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288036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2880360"/>
            <a:ext cx="64008" cy="5303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8803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Flexible Execution Paths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92040" y="352044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3520440"/>
            <a:ext cx="64008" cy="5303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352044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Scalable AI Architectures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Stateful Systems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4/10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4173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188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What are Stateful Systems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92040" y="10972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09728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56632" y="14173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41848" y="1188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Context Persistence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359152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59152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67919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4505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Workflow Continuity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2359152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359152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56632" y="267919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41848" y="24505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State Management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621024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21024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941064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712464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Long-running AI Processes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92040" y="3621024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621024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56632" y="3941064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6632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41848" y="3712464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Intelligent Workflow Tracking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StateGraph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5/10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4173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188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Introduction to StateGraph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92040" y="10972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09728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56632" y="14173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41848" y="1188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State-based Workflow Design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359152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59152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67919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4505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Shared State Management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2359152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359152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56632" y="267919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41848" y="24505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Node Communication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621024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21024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941064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712464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Workflow Coordination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92040" y="3621024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621024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56632" y="3941064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6632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41848" y="3712464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Graph Execution Control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Nodes in LangGraph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6/10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41732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188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What are Nodes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92040" y="10972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097280"/>
            <a:ext cx="6400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56632" y="141732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41848" y="1188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Task Execution Units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359152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59152"/>
            <a:ext cx="6400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679192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4505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Input &amp; Output Processing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2359152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359152"/>
            <a:ext cx="6400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56632" y="2679192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41848" y="24505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Modular Workflow Components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621024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21024"/>
            <a:ext cx="6400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941064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712464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Reusable Logic Blocks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92040" y="3621024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621024"/>
            <a:ext cx="6400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56632" y="3941064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6632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41848" y="3712464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Node-based AI Operations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Edges in LangGraph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7/10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41732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188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What are Edges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92040" y="10972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097280"/>
            <a:ext cx="6400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56632" y="141732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41848" y="1188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Node Connections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359152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59152"/>
            <a:ext cx="6400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679192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4505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Workflow Routing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2359152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359152"/>
            <a:ext cx="6400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56632" y="2679192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41848" y="245059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Data Flow Management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621024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21024"/>
            <a:ext cx="6400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941064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712464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Conditional Transitions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92040" y="3621024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621024"/>
            <a:ext cx="6400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56632" y="3941064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6632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41848" y="3712464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Execution Path Control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Graph Lifecycle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8/10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80160" y="2084832"/>
            <a:ext cx="5029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658368" cy="65836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9768" y="2194560"/>
            <a:ext cx="1188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" y="2194560"/>
            <a:ext cx="118872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286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Initialization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8346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Graph Initialization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15768" y="2084832"/>
            <a:ext cx="5029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67128" y="1371600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67128" y="13716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865376" y="2194560"/>
            <a:ext cx="1188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65376" y="2194560"/>
            <a:ext cx="11887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65376" y="2286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Compilation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65376" y="28346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Workflow Compilation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51376" y="2084832"/>
            <a:ext cx="5029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02736" y="1371600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02736" y="13716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300984" y="2194560"/>
            <a:ext cx="1188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00984" y="2194560"/>
            <a:ext cx="11887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00984" y="2286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Execution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00984" y="28346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Execution Process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86984" y="2084832"/>
            <a:ext cx="5029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38344" y="1371600"/>
            <a:ext cx="658368" cy="6583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38344" y="13716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736592" y="2194560"/>
            <a:ext cx="1188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2194560"/>
            <a:ext cx="11887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2286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State Updates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36592" y="28346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State Updates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22592" y="2084832"/>
            <a:ext cx="5029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73952" y="1371600"/>
            <a:ext cx="658368" cy="6583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13716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172200" y="2194560"/>
            <a:ext cx="1188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2194560"/>
            <a:ext cx="118872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2286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Error Handling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72200" y="28346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Error Handling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909560" y="1371600"/>
            <a:ext cx="658368" cy="6583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09560" y="13716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607808" y="2194560"/>
            <a:ext cx="1188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607808" y="2194560"/>
            <a:ext cx="118872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07808" y="2286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Completion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607808" y="28346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Workflow Completion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Practical Labs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9/10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8BDF8"/>
                </a:solidFill>
              </a:rPr>
              <a:t>Hands-on Activities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09928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16002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Creating First StateGraph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709928"/>
            <a:ext cx="457200" cy="45720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59552" y="16002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Node &amp; Edge Wiring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60604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07208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33272" y="26974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Workflow Execution Testing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260604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83480" y="2807208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59552" y="26974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State Management Practice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04488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33272" y="37947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Graph Debugging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370332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3904488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59552" y="37947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Basic Orchestration Setup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Mini Project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10/10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First Graph Workflow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393192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3931920" cy="530352"/>
          </a:xfrm>
          <a:prstGeom prst="rect">
            <a:avLst/>
          </a:prstGeom>
          <a:solidFill>
            <a:srgbClr val="0F2A4A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2075688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Stateful Workflow Design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560320"/>
            <a:ext cx="3931920" cy="530352"/>
          </a:xfrm>
          <a:prstGeom prst="rect">
            <a:avLst/>
          </a:prstGeom>
          <a:solidFill>
            <a:srgbClr val="0F2A4A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697480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6032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Node-based Execution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182112"/>
            <a:ext cx="3931920" cy="530352"/>
          </a:xfrm>
          <a:prstGeom prst="rect">
            <a:avLst/>
          </a:prstGeom>
          <a:solidFill>
            <a:srgbClr val="0F2A4A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3319272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8211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Graph Routing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803904"/>
            <a:ext cx="3931920" cy="530352"/>
          </a:xfrm>
          <a:prstGeom prst="rect">
            <a:avLst/>
          </a:prstGeom>
          <a:solidFill>
            <a:srgbClr val="0F2A4A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941064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80390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Dynamic State Handling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1463040"/>
            <a:ext cx="3931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463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SKILLS GAINED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1938528"/>
            <a:ext cx="3931920" cy="530352"/>
          </a:xfrm>
          <a:prstGeom prst="rect">
            <a:avLst/>
          </a:prstGeom>
          <a:solidFill>
            <a:srgbClr val="0A252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47488" y="207568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93852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LangGraph Fundamentals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2560320"/>
            <a:ext cx="3931920" cy="530352"/>
          </a:xfrm>
          <a:prstGeom prst="rect">
            <a:avLst/>
          </a:prstGeom>
          <a:solidFill>
            <a:srgbClr val="0A252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47488" y="26974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256032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Workflow Orchestration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3182112"/>
            <a:ext cx="3931920" cy="530352"/>
          </a:xfrm>
          <a:prstGeom prst="rect">
            <a:avLst/>
          </a:prstGeom>
          <a:solidFill>
            <a:srgbClr val="0A252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47488" y="331927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318211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Stateful AI System Design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LangGraph Foundations  •  Day 1 Complete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Foundations - Day 1</dc:title>
  <dc:subject>PptxGenJS Presentation</dc:subject>
  <dc:creator>PptxGenJS</dc:creator>
  <cp:lastModifiedBy>PptxGenJS</cp:lastModifiedBy>
  <cp:revision>1</cp:revision>
  <dcterms:created xsi:type="dcterms:W3CDTF">2026-05-28T05:27:35Z</dcterms:created>
  <dcterms:modified xsi:type="dcterms:W3CDTF">2026-05-28T05:27:35Z</dcterms:modified>
</cp:coreProperties>
</file>